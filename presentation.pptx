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F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C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C522"/>
                </a:solidFill>
              </a:defRPr>
            </a:pPr>
            <a:r>
              <a:t>GWC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BB99"/>
                </a:solidFill>
              </a:defRPr>
            </a:pPr>
            <a:r>
              <a:t>GOLDEN WEST COLLEGE  |  HUNTINGTON BEACH, 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Automated Student</a:t>
            </a:r>
            <a:br/>
            <a:r>
              <a:t>Eligibility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DDCC"/>
                </a:solidFill>
              </a:defRPr>
            </a:pPr>
            <a:r>
              <a:t>Proactive program-matching that tells students exactly which services</a:t>
            </a:r>
            <a:br/>
            <a:r>
              <a:t>they qualify for -- before they even know to ask.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EOPS  |  CARE  |  CalWORKs  |  and more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AA99"/>
                </a:solidFill>
              </a:defRPr>
            </a:pPr>
            <a:r>
              <a:t>GWC  |  DXHub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AA99"/>
                </a:solidFill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6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9959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33F2B"/>
                </a:solidFill>
              </a:defRPr>
            </a:pPr>
            <a:r>
              <a:t>Students don't know what they qualify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603D"/>
                </a:solidFill>
              </a:defRPr>
            </a:pPr>
            <a:r>
              <a:t>9,000+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GWC students estimated eligible for EOPS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011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603D"/>
                </a:solidFill>
              </a:defRPr>
            </a:pPr>
            <a:r>
              <a:t>~600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651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Currently enrolled in EOPS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011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603D"/>
                </a:solidFill>
              </a:defRPr>
            </a:pPr>
            <a:r>
              <a:t>93%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651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Of eligible students never reach the program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2A20"/>
                </a:solidFill>
              </a:defRPr>
            </a:pPr>
            <a:r>
              <a:t>*  Eligibility criteria scattered across per-program pages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2A20"/>
                </a:solidFill>
              </a:defRPr>
            </a:pPr>
            <a:r>
              <a:t>*  Application abandonment is high -- students start, get confused, stop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2A20"/>
                </a:solidFill>
              </a:defRPr>
            </a:pPr>
            <a:r>
              <a:t>*  Support offices are reactive -- students must find them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GWC  |  DXHub  | 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17352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F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C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522"/>
                </a:solidFill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 proactive notification layer -- not an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CC"/>
                </a:solidFill>
              </a:defRPr>
            </a:pPr>
            <a:r>
              <a:t>When a student logs in, the system matches their Banner + FAFSA + CCCApply data</a:t>
            </a:r>
            <a:br/>
            <a:r>
              <a:t>against every program's criteria automatically.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2560320" cy="1097280"/>
          </a:xfrm>
          <a:prstGeom prst="round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Banner SIS</a:t>
            </a:r>
            <a:br/>
            <a:r>
              <a:t>Enrollment | GPA | Residency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2926080"/>
            <a:ext cx="2560320" cy="1097280"/>
          </a:xfrm>
          <a:prstGeom prst="round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FAFSA / CADAA</a:t>
            </a:r>
            <a:br/>
            <a:r>
              <a:t>Income | BOG | Pell | SAI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926080"/>
            <a:ext cx="2560320" cy="1097280"/>
          </a:xfrm>
          <a:prstGeom prst="round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CCCApply</a:t>
            </a:r>
            <a:br/>
            <a:r>
              <a:t>Single parent | Foster | CalWORKs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2926080"/>
            <a:ext cx="2560320" cy="1097280"/>
          </a:xfrm>
          <a:prstGeom prst="roundRect">
            <a:avLst/>
          </a:prstGeom>
          <a:solidFill>
            <a:srgbClr val="FFC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33F2B"/>
                </a:solidFill>
              </a:defRPr>
            </a:pPr>
            <a:r>
              <a:t>Eligibility Result</a:t>
            </a:r>
            <a:br/>
            <a:r>
              <a:t>Per program | Instant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BBAA"/>
                </a:solidFill>
              </a:defRPr>
            </a:pPr>
            <a:r>
              <a:t>"Congratulations -- you're 100% qualified for EOPS and CalWORKs;</a:t>
            </a:r>
            <a:br/>
            <a:r>
              <a:t>and once we receive one document, you may also qualify for CARE."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AA99"/>
                </a:solidFill>
              </a:defRPr>
            </a:pPr>
            <a:r>
              <a:t>GWC  |  DXHub  | 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17352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AA99"/>
                </a:solidFill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6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9959"/>
                </a:solidFill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33F2B"/>
                </a:solidFill>
              </a:defRPr>
            </a:pPr>
            <a:r>
              <a:t>Two qualification states -- no ambiguity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A34A"/>
                </a:solidFill>
              </a:defRPr>
            </a:pPr>
            <a:r>
              <a:t>100% CONFIRMED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A34A"/>
                </a:solidFill>
              </a:defRPr>
            </a:pPr>
            <a:r>
              <a:t>No action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2A20"/>
                </a:solidFill>
              </a:defRPr>
            </a:pPr>
            <a:r>
              <a:t>All criteria verified in Banner, FAFSA, and CCCApply.</a:t>
            </a:r>
            <a:br/>
            <a:r>
              <a:t>Student is immediately enrolled or added to priority queue.</a:t>
            </a:r>
            <a:br/>
            <a:br/>
            <a:r>
              <a:t>Example: EOPS Tier 1 -- income &lt;$19k + homeless + low GPA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</a:defRPr>
            </a:pPr>
            <a:r>
              <a:t>CONDITIONALLY QUALIFIED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68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7706"/>
                </a:solidFill>
              </a:defRPr>
            </a:pPr>
            <a:r>
              <a:t>One item needed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9260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2A20"/>
                </a:solidFill>
              </a:defRPr>
            </a:pPr>
            <a:r>
              <a:t>Core criteria met. One supplemental document required.</a:t>
            </a:r>
            <a:br/>
            <a:r>
              <a:t>System tells student exactly what -- no guessing.</a:t>
            </a:r>
            <a:br/>
            <a:br/>
            <a:r>
              <a:t>Example: CARE -- needs proof of public assistance letter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GWC  |  DXHub  | 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17352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F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C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522"/>
                </a:solidFill>
              </a:defRPr>
            </a:pPr>
            <a:r>
              <a:t>PROGRAMS MATCHED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Three programs live -- built to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522"/>
                </a:solidFill>
              </a:defRPr>
            </a:pPr>
            <a:r>
              <a:t>EOPS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CCBB"/>
                </a:solidFill>
              </a:defRPr>
            </a:pPr>
            <a:r>
              <a:t>Extended Opportunity Programs &amp;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8288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EEDD"/>
                </a:solidFill>
              </a:defRPr>
            </a:pPr>
            <a:r>
              <a:t>5 criteria: residency, enrollment, units, financial need, ed. qualifier</a:t>
            </a:r>
            <a:br/>
            <a:r>
              <a:t>Tier 1 immediate | Tier 2 waitlist | Tier 3 referral</a:t>
            </a:r>
            <a:br/>
            <a:r>
              <a:t>Capacity-aware -- never over-enrolls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522"/>
                </a:solidFill>
              </a:defRPr>
            </a:pPr>
            <a:r>
              <a:t>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CCBB"/>
                </a:solidFill>
              </a:defRPr>
            </a:pPr>
            <a:r>
              <a:t>Cooperative Agencies Resources for Education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38328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EEDD"/>
                </a:solidFill>
              </a:defRPr>
            </a:pPr>
            <a:r>
              <a:t>EOPS-eligible + single parent + dependent child + public assistance</a:t>
            </a:r>
            <a:br/>
            <a:r>
              <a:t>Additional grants, childcare referrals, emergency funds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37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522"/>
                </a:solidFill>
              </a:defRPr>
            </a:pPr>
            <a:r>
              <a:t>CalWORKs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03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CCBB"/>
                </a:solidFill>
              </a:defRPr>
            </a:pPr>
            <a:r>
              <a:t>CA Work Opportunity &amp; Responsibility to Kids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93776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EEDD"/>
                </a:solidFill>
              </a:defRPr>
            </a:pPr>
            <a:r>
              <a:t>Enrolled in credit courses + receiving county cash aid</a:t>
            </a:r>
            <a:br/>
            <a:r>
              <a:t>Work-study, childcare, transportation support, counseling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Adding a new program = one function. Zero changes to banner, API, or page.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AA99"/>
                </a:solidFill>
              </a:defRPr>
            </a:pPr>
            <a:r>
              <a:t>GWC  |  DXHub  |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17352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AA99"/>
                </a:solidFill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6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9959"/>
                </a:solidFill>
              </a:defRPr>
            </a:pPr>
            <a:r>
              <a:t>DESIGN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33F2B"/>
                </a:solidFill>
              </a:defRPr>
            </a:pPr>
            <a:r>
              <a:t>Why rules-based, not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626"/>
                </a:solidFill>
              </a:defRPr>
            </a:pPr>
            <a:r>
              <a:t>Agentic RAG would give us...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2A20"/>
                </a:solidFill>
              </a:defRPr>
            </a:pPr>
            <a:r>
              <a:t>x  Unpredictable -- same student, different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2A20"/>
                </a:solidFill>
              </a:defRPr>
            </a:pPr>
            <a:r>
              <a:t>x  Hallucination risk on legal eligibility criteria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2A20"/>
                </a:solidFill>
              </a:defRPr>
            </a:pPr>
            <a:r>
              <a:t>x  Cost per page load -- every visit charges 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2A20"/>
                </a:solidFill>
              </a:defRPr>
            </a:pPr>
            <a:r>
              <a:t>x  No audit trail -- can't explain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A34A"/>
                </a:solidFill>
              </a:defRPr>
            </a:pPr>
            <a:r>
              <a:t>Rules engine gives us...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2A20"/>
                </a:solidFill>
              </a:defRPr>
            </a:pPr>
            <a:r>
              <a:t>*  Deterministic -- same profile, same result, always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2A20"/>
                </a:solidFill>
              </a:defRPr>
            </a:pPr>
            <a:r>
              <a:t>*  Free -- zero API cost per student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2A20"/>
                </a:solidFill>
              </a:defRPr>
            </a:pPr>
            <a:r>
              <a:t>*  Instant -- runs in milliseconds server-side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2A20"/>
                </a:solidFill>
              </a:defRPr>
            </a:pPr>
            <a:r>
              <a:t>*  Fully auditable -- every decision has a trace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EOPS eligibility is defined by California Title 5. The criteria are fixed and binary.</a:t>
            </a:r>
            <a:br/>
            <a:r>
              <a:t>AI earns its place for open-ended questions -- not legal checklists.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GWC  |  DXHub  | 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17352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C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33F2B"/>
                </a:solidFill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926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33F2B"/>
                </a:solidFill>
              </a:defRPr>
            </a:pPr>
            <a:r>
              <a:t>Five student profiles demonstrating confirmed enrollment, waitlist,</a:t>
            </a:r>
            <a:br/>
            <a:r>
              <a:t>conditional qualification, and referral to alternative programs.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33F2B"/>
                </a:solidFill>
              </a:defRPr>
            </a:pPr>
            <a:r>
              <a:t>Kylie -- EOPS + CARE + CalWORKs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4114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33F2B"/>
                </a:solidFill>
              </a:defRPr>
            </a:pPr>
            <a:r>
              <a:t>Michael -- EOPS Tier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4114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33F2B"/>
                </a:solidFill>
              </a:defRPr>
            </a:pPr>
            <a:r>
              <a:t>Rosa -- CARE conditional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33F2B"/>
                </a:solidFill>
              </a:defRPr>
            </a:pPr>
            <a:r>
              <a:t>Isabella -- Tier 3 referral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4754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33F2B"/>
                </a:solidFill>
              </a:defRPr>
            </a:pPr>
            <a:r>
              <a:t>David -- No match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GWC  |  DXHub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17352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F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C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522"/>
                </a:solidFill>
              </a:defRPr>
            </a:pPr>
            <a:r>
              <a:t>SCALING RESPONSIBLY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What happens when 9,000 students qualify?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C522"/>
                </a:solidFill>
              </a:defRPr>
            </a:pPr>
            <a:r>
              <a:t>TIER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Immediate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CC"/>
                </a:solidFill>
              </a:defRPr>
            </a:pPr>
            <a:r>
              <a:t>Highest need enrolled on the spot</a:t>
            </a:r>
            <a:br/>
            <a:r>
              <a:t>Income &lt;$19k | Homeless | Foster | GPA &lt;2.0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59" y="2011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C522"/>
                </a:solidFill>
              </a:defRPr>
            </a:pPr>
            <a:r>
              <a:t>TIER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2377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Waitlist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30175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CC"/>
                </a:solidFill>
              </a:defRPr>
            </a:pPr>
            <a:r>
              <a:t>Eligible, lower urgency -- managed queue</a:t>
            </a:r>
            <a:br/>
            <a:r>
              <a:t>EOPS contacts within 2 weeks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011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C522"/>
                </a:solidFill>
              </a:defRPr>
            </a:pPr>
            <a:r>
              <a:t>TIER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377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Referral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0175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CC"/>
                </a:solidFill>
              </a:defRPr>
            </a:pPr>
            <a:r>
              <a:t>Program at capacity -- matched to</a:t>
            </a:r>
            <a:br/>
            <a:r>
              <a:t>CARE, CalWORKs, Basic Needs, Financial Aid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CCBB"/>
                </a:solidFill>
              </a:defRPr>
            </a:pPr>
            <a:r>
              <a:t>* 9,000 eligible vs 600 served = Chancellor's Office budget justification for increased allocation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CCBB"/>
                </a:solidFill>
              </a:defRPr>
            </a:pPr>
            <a:r>
              <a:t>* Accept = interest signal into a managed queue -- not instant auto-enrollment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AA99"/>
                </a:solidFill>
              </a:defRPr>
            </a:pPr>
            <a:r>
              <a:t>GWC  |  DXHub  | 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17352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AA99"/>
                </a:solidFill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6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9959"/>
                </a:solidFill>
              </a:defRPr>
            </a:pPr>
            <a:r>
              <a:t>IMPLEMENTATION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33F2B"/>
                </a:solidFill>
              </a:defRPr>
            </a:pPr>
            <a:r>
              <a:t>How GWC plugs this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603D"/>
                </a:solidFill>
              </a:defRPr>
            </a:pPr>
            <a:r>
              <a:t>TECHNICAL -- 2 WEEKS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2A20"/>
                </a:solidFill>
              </a:defRPr>
            </a:pPr>
            <a:r>
              <a:t>*  Read-only access to 6 Banner SIS fields via Ethos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2A20"/>
                </a:solidFill>
              </a:defRPr>
            </a:pPr>
            <a:r>
              <a:t>*  Read BOG waiver + income from Financial Aid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2A20"/>
                </a:solidFill>
              </a:defRPr>
            </a:pPr>
            <a:r>
              <a:t>*  Replace mock profile with real auth session (SSO/LMS)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20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2A20"/>
                </a:solidFill>
              </a:defRPr>
            </a:pPr>
            <a:r>
              <a:t>*  Deploy to GWC subdomain via Vercel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603D"/>
                </a:solidFill>
              </a:defRPr>
            </a:pPr>
            <a:r>
              <a:t>ORGANIZATIONAL -- 6-10 WEEKS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2A20"/>
                </a:solidFill>
              </a:defRPr>
            </a:pPr>
            <a:r>
              <a:t>*  EOPS director: Banner-verified = auto-enrollment 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697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2A20"/>
                </a:solidFill>
              </a:defRPr>
            </a:pPr>
            <a:r>
              <a:t>*  Financial Aid: one data-sharing agreement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2A20"/>
                </a:solidFill>
              </a:defRPr>
            </a:pPr>
            <a:r>
              <a:t>*  IT: one FERPA security review (covers all future students)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520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2A20"/>
                </a:solidFill>
              </a:defRPr>
            </a:pPr>
            <a:r>
              <a:t>*  Approve the system once -- not 9,000 times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603D"/>
                </a:solidFill>
              </a:defRPr>
            </a:pPr>
            <a:r>
              <a:t>Extension: start EOPS --&gt; add CalWORKs --&gt; add CARE --&gt; add NextUp, DSPS, Golden Promise.</a:t>
            </a:r>
            <a:br/>
            <a:r>
              <a:t>Same codebase, no rewrite.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GWC  |  DXHub  | 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17352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F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C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Students shouldn't have to find the programs.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C522"/>
                </a:solidFill>
              </a:defRPr>
            </a:pPr>
            <a:r>
              <a:t>The programs should find the students.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C522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CC"/>
                </a:solidFill>
              </a:defRPr>
            </a:pPr>
            <a:r>
              <a:t>Programs matched</a:t>
            </a:r>
            <a:br/>
            <a:r>
              <a:t>EOPS | CARE | CalWORKs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59" y="3657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C522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59" y="4297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CC"/>
                </a:solidFill>
              </a:defRPr>
            </a:pPr>
            <a:r>
              <a:t>Qualification states</a:t>
            </a:r>
            <a:br/>
            <a:r>
              <a:t>Confirmed &amp; Conditional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3657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C522"/>
                </a:solidFill>
              </a:defRPr>
            </a:pPr>
            <a:r>
              <a:t>Infinite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297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CC"/>
                </a:solidFill>
              </a:defRPr>
            </a:pPr>
            <a:r>
              <a:t>Programs can be added</a:t>
            </a:r>
            <a:br/>
            <a:r>
              <a:t>One function each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github.com/miaaoyama/GoldenWestBanner  |  Next.js | TypeScript | DXHub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AA99"/>
                </a:solidFill>
              </a:defRPr>
            </a:pPr>
            <a:r>
              <a:t>GWC  |  DXHub  |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17352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AA99"/>
                </a:solidFill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